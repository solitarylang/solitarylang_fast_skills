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388" r:id="rId2"/>
    <p:sldId id="390" r:id="rId3"/>
    <p:sldId id="395" r:id="rId4"/>
    <p:sldId id="391" r:id="rId5"/>
    <p:sldId id="398" r:id="rId6"/>
    <p:sldId id="397" r:id="rId7"/>
    <p:sldId id="396" r:id="rId8"/>
    <p:sldId id="393" r:id="rId9"/>
    <p:sldId id="39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4E1C"/>
    <a:srgbClr val="F1592B"/>
    <a:srgbClr val="113366"/>
    <a:srgbClr val="EE4D2D"/>
    <a:srgbClr val="D001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B60735-B007-44FE-BFFC-5991CD298318}">
  <a:tblStyle styleId="{7DB60735-B007-44FE-BFFC-5991CD2983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6405"/>
  </p:normalViewPr>
  <p:slideViewPr>
    <p:cSldViewPr snapToGrid="0">
      <p:cViewPr varScale="1">
        <p:scale>
          <a:sx n="148" d="100"/>
          <a:sy n="148" d="100"/>
        </p:scale>
        <p:origin x="5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0283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70041e8fc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470041e8fc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1308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8276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09065" y="1998920"/>
            <a:ext cx="7525870" cy="656493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09065" y="2655413"/>
            <a:ext cx="7525870" cy="346413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9" y="474710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xmlns="" id="{A286DABD-9CD1-4EBF-8460-EB6429EB2D1F}"/>
              </a:ext>
            </a:extLst>
          </p:cNvPr>
          <p:cNvSpPr/>
          <p:nvPr userDrawn="1"/>
        </p:nvSpPr>
        <p:spPr>
          <a:xfrm>
            <a:off x="4635313" y="2585653"/>
            <a:ext cx="178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en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Calibri"/>
                <a:sym typeface="Calibri"/>
              </a:rPr>
              <a:t> </a:t>
            </a:r>
            <a:endParaRPr sz="11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Google Shape;57;p13">
            <a:extLst>
              <a:ext uri="{FF2B5EF4-FFF2-40B4-BE49-F238E27FC236}">
                <a16:creationId xmlns:a16="http://schemas.microsoft.com/office/drawing/2014/main" xmlns="" id="{512B4EC2-F1A7-460B-BC44-7DF622FD4D9E}"/>
              </a:ext>
            </a:extLst>
          </p:cNvPr>
          <p:cNvSpPr/>
          <p:nvPr userDrawn="1"/>
        </p:nvSpPr>
        <p:spPr>
          <a:xfrm>
            <a:off x="0" y="5070993"/>
            <a:ext cx="9144000" cy="67315"/>
          </a:xfrm>
          <a:prstGeom prst="rect">
            <a:avLst/>
          </a:prstGeom>
          <a:solidFill>
            <a:srgbClr val="FF3A12"/>
          </a:solidFill>
          <a:ln w="12700" cap="flat" cmpd="sng">
            <a:solidFill>
              <a:srgbClr val="F159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  <a:sym typeface="Calibri"/>
            </a:endParaRPr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xmlns="" id="{284D2ABD-47AC-400B-AE7D-9B54BFD13C2E}"/>
              </a:ext>
            </a:extLst>
          </p:cNvPr>
          <p:cNvSpPr/>
          <p:nvPr userDrawn="1"/>
        </p:nvSpPr>
        <p:spPr>
          <a:xfrm>
            <a:off x="0" y="5068513"/>
            <a:ext cx="809065" cy="67161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F8E894C-C8B1-4BA9-9557-257C157716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21" y="860193"/>
            <a:ext cx="2292439" cy="72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Content pag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4;p5">
            <a:extLst>
              <a:ext uri="{FF2B5EF4-FFF2-40B4-BE49-F238E27FC236}">
                <a16:creationId xmlns:a16="http://schemas.microsoft.com/office/drawing/2014/main" xmlns="" id="{3A20A66D-7BAB-45D7-8AC8-8D206F9511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9" y="47688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7" name="Google Shape;54;p13">
            <a:extLst>
              <a:ext uri="{FF2B5EF4-FFF2-40B4-BE49-F238E27FC236}">
                <a16:creationId xmlns:a16="http://schemas.microsoft.com/office/drawing/2014/main" xmlns="" id="{ECA9A5CF-2607-4EC9-9DD5-8228326F375C}"/>
              </a:ext>
            </a:extLst>
          </p:cNvPr>
          <p:cNvSpPr txBox="1">
            <a:spLocks/>
          </p:cNvSpPr>
          <p:nvPr userDrawn="1"/>
        </p:nvSpPr>
        <p:spPr>
          <a:xfrm>
            <a:off x="369656" y="217287"/>
            <a:ext cx="6340237" cy="4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90000"/>
              </a:lnSpc>
              <a:buClr>
                <a:schemeClr val="dk1"/>
              </a:buClr>
              <a:buSzPts val="3300"/>
              <a:buNone/>
            </a:pPr>
            <a:endParaRPr lang="en-US" sz="2400" dirty="0">
              <a:solidFill>
                <a:schemeClr val="tx2">
                  <a:lumMod val="50000"/>
                </a:schemeClr>
              </a:solidFill>
              <a:latin typeface="Arial" charset="0"/>
              <a:ea typeface="Arial" charset="0"/>
              <a:cs typeface="Arial" charset="0"/>
              <a:sym typeface="Calibri"/>
            </a:endParaRPr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xmlns="" id="{BE9D9165-97C0-495B-BCA2-F8DF12EE5058}"/>
              </a:ext>
            </a:extLst>
          </p:cNvPr>
          <p:cNvSpPr/>
          <p:nvPr userDrawn="1"/>
        </p:nvSpPr>
        <p:spPr>
          <a:xfrm rot="5400000">
            <a:off x="-2223954" y="2861162"/>
            <a:ext cx="4500000" cy="64800"/>
          </a:xfrm>
          <a:prstGeom prst="rect">
            <a:avLst/>
          </a:prstGeom>
          <a:solidFill>
            <a:srgbClr val="FF3A12"/>
          </a:solidFill>
          <a:ln w="12700" cap="flat" cmpd="sng">
            <a:solidFill>
              <a:srgbClr val="F159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  <a:sym typeface="Calibri"/>
            </a:endParaRPr>
          </a:p>
        </p:txBody>
      </p:sp>
      <p:sp>
        <p:nvSpPr>
          <p:cNvPr id="9" name="Google Shape;57;p13">
            <a:extLst>
              <a:ext uri="{FF2B5EF4-FFF2-40B4-BE49-F238E27FC236}">
                <a16:creationId xmlns:a16="http://schemas.microsoft.com/office/drawing/2014/main" xmlns="" id="{BC9243C0-4EB3-46DE-A5EB-FD27905304D5}"/>
              </a:ext>
            </a:extLst>
          </p:cNvPr>
          <p:cNvSpPr/>
          <p:nvPr userDrawn="1"/>
        </p:nvSpPr>
        <p:spPr>
          <a:xfrm rot="5400000">
            <a:off x="-351955" y="345599"/>
            <a:ext cx="756000" cy="64802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  <a:sym typeface="Calibri"/>
            </a:endParaRPr>
          </a:p>
        </p:txBody>
      </p:sp>
      <p:sp>
        <p:nvSpPr>
          <p:cNvPr id="10" name="Google Shape;57;p13">
            <a:extLst>
              <a:ext uri="{FF2B5EF4-FFF2-40B4-BE49-F238E27FC236}">
                <a16:creationId xmlns:a16="http://schemas.microsoft.com/office/drawing/2014/main" xmlns="" id="{8F36DDA8-3DD2-49BF-A9E6-59517BCFD11D}"/>
              </a:ext>
            </a:extLst>
          </p:cNvPr>
          <p:cNvSpPr/>
          <p:nvPr userDrawn="1"/>
        </p:nvSpPr>
        <p:spPr>
          <a:xfrm>
            <a:off x="652184" y="459129"/>
            <a:ext cx="8172000" cy="36000"/>
          </a:xfrm>
          <a:prstGeom prst="rect">
            <a:avLst/>
          </a:prstGeom>
          <a:solidFill>
            <a:srgbClr val="EE4D2D"/>
          </a:solidFill>
          <a:ln w="12700" cap="flat" cmpd="sng">
            <a:solidFill>
              <a:srgbClr val="F159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BAAADC-17AC-4F94-A502-790C42E508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184" y="193221"/>
            <a:ext cx="8172729" cy="234950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8298462-A291-4FC8-AFBA-3BA83D3B72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2463" y="756000"/>
            <a:ext cx="8121650" cy="3687851"/>
          </a:xfrm>
        </p:spPr>
        <p:txBody>
          <a:bodyPr/>
          <a:lstStyle>
            <a:lvl1pPr marL="11430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F8E894C-C8B1-4BA9-9557-257C157716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234"/>
          <a:stretch/>
        </p:blipFill>
        <p:spPr>
          <a:xfrm>
            <a:off x="227016" y="127404"/>
            <a:ext cx="264069" cy="30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05246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9" y="47361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" name="Shape 21"/>
          <p:cNvSpPr txBox="1"/>
          <p:nvPr userDrawn="1"/>
        </p:nvSpPr>
        <p:spPr>
          <a:xfrm>
            <a:off x="136358" y="4809167"/>
            <a:ext cx="888480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75" tIns="54700" rIns="89975" bIns="44975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100"/>
              <a:buFont typeface="Times New Roman"/>
              <a:buNone/>
            </a:pPr>
            <a:r>
              <a:rPr lang="en-US" sz="900" dirty="0">
                <a:solidFill>
                  <a:srgbClr val="808080"/>
                </a:solidFill>
                <a:latin typeface="Arial" charset="0"/>
                <a:ea typeface="Arial" charset="0"/>
                <a:cs typeface="Arial" charset="0"/>
                <a:sym typeface="Garamond"/>
              </a:rPr>
              <a:t>Private &amp; Confidential</a:t>
            </a:r>
            <a:endParaRPr sz="900" dirty="0">
              <a:latin typeface="Arial" charset="0"/>
              <a:ea typeface="Arial" charset="0"/>
              <a:cs typeface="Arial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5" Type="http://schemas.openxmlformats.org/officeDocument/2006/relationships/image" Target="../media/image5.emf"/><Relationship Id="rId10" Type="http://schemas.openxmlformats.org/officeDocument/2006/relationships/image" Target="../media/image10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EC7848FC-7912-46B2-881E-3684ED797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Arial" charset="0"/>
                <a:cs typeface="Arial" charset="0"/>
                <a:sym typeface="Calibri"/>
              </a:rPr>
              <a:t>Shopee documents usage guide</a:t>
            </a:r>
            <a:endParaRPr lang="en-SG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xmlns="" id="{6C041BBA-4084-4DF5-9FB0-ED844E053E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How to use PowerPoint and Memo documents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EF48CAC-ED85-49D6-AAA7-44D6D99763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</a:t>
            </a:fld>
            <a:endParaRPr lang="en" dirty="0"/>
          </a:p>
        </p:txBody>
      </p:sp>
      <p:sp>
        <p:nvSpPr>
          <p:cNvPr id="55" name="Google Shape;55;p13"/>
          <p:cNvSpPr/>
          <p:nvPr/>
        </p:nvSpPr>
        <p:spPr>
          <a:xfrm>
            <a:off x="4482913" y="2433253"/>
            <a:ext cx="178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en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Calibri"/>
                <a:sym typeface="Calibri"/>
              </a:rPr>
              <a:t> </a:t>
            </a:r>
            <a:endParaRPr sz="11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5076265"/>
            <a:ext cx="9144000" cy="67315"/>
          </a:xfrm>
          <a:prstGeom prst="rect">
            <a:avLst/>
          </a:prstGeom>
          <a:solidFill>
            <a:srgbClr val="FF3A12"/>
          </a:solidFill>
          <a:ln w="12700" cap="flat" cmpd="sng">
            <a:solidFill>
              <a:srgbClr val="F1592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  <a:sym typeface="Calibri"/>
            </a:endParaRPr>
          </a:p>
        </p:txBody>
      </p:sp>
      <p:sp>
        <p:nvSpPr>
          <p:cNvPr id="9" name="Google Shape;57;p13"/>
          <p:cNvSpPr/>
          <p:nvPr/>
        </p:nvSpPr>
        <p:spPr>
          <a:xfrm>
            <a:off x="-2248" y="5076339"/>
            <a:ext cx="809065" cy="67161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370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Why have standardized document structure and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1520" y="1151980"/>
            <a:ext cx="588369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0001" indent="-420001">
              <a:buClr>
                <a:srgbClr val="F04E1C"/>
              </a:buClr>
              <a:buFont typeface="Wingdings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Lower communication costs: </a:t>
            </a:r>
            <a:r>
              <a: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Having a common and standardized structure for the documents we use to communicate our ideas makes it easier for us to understand each other and helps to lower communication costs</a:t>
            </a:r>
          </a:p>
          <a:p>
            <a:pPr marL="420001" indent="-420001">
              <a:buClr>
                <a:srgbClr val="F04E1C"/>
              </a:buClr>
              <a:buFont typeface="Wingdings" charset="2"/>
              <a:buChar char="§"/>
            </a:pPr>
            <a:endParaRPr lang="en-US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420001" indent="-420001">
              <a:buClr>
                <a:srgbClr val="F04E1C"/>
              </a:buClr>
              <a:buFont typeface="Wingdings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More structured thinking: </a:t>
            </a:r>
            <a:r>
              <a: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The structure defined in these documents helps to frame ideas in a more thoughtful and comprehensive way</a:t>
            </a:r>
          </a:p>
          <a:p>
            <a:pPr marL="420001" indent="-420001">
              <a:buClr>
                <a:srgbClr val="F04E1C"/>
              </a:buClr>
              <a:buFont typeface="Wingdings" charset="2"/>
              <a:buChar char="§"/>
            </a:pPr>
            <a:endParaRPr lang="en-US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420001" indent="-420001">
              <a:buClr>
                <a:srgbClr val="F04E1C"/>
              </a:buClr>
              <a:buFont typeface="Wingdings" charset="2"/>
              <a:buChar char="§"/>
            </a:pPr>
            <a:r>
              <a:rPr lang="en-US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Improve overall document quality:</a:t>
            </a:r>
            <a:r>
              <a:rPr lang="en-US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Historically, there have been varying degrees of quality of documents in Shopee. Following the defined structure and format of documents will help lift overall bar of quality</a:t>
            </a:r>
          </a:p>
        </p:txBody>
      </p:sp>
    </p:spTree>
    <p:extLst>
      <p:ext uri="{BB962C8B-B14F-4D97-AF65-F5344CB8AC3E}">
        <p14:creationId xmlns:p14="http://schemas.microsoft.com/office/powerpoint/2010/main" val="165244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Usage guidelines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70021" y="964605"/>
            <a:ext cx="7929663" cy="0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8967" y="1052906"/>
            <a:ext cx="179151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PowerPoint </a:t>
            </a:r>
            <a:b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(following the format and contents structure)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0485" y="1052906"/>
            <a:ext cx="19811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When presenting to live audience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When communication is typically </a:t>
            </a: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two-way (e.g. or discussion)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70485" y="618544"/>
            <a:ext cx="1981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When to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967" y="2262664"/>
            <a:ext cx="1791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PowerPoint </a:t>
            </a:r>
            <a:b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(following the format and not necessarily the contents structure)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70485" y="2262664"/>
            <a:ext cx="19811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When presenting to live audience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When communication is typically </a:t>
            </a: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one-way (e.g. providing updates)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968" y="3456736"/>
            <a:ext cx="12140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70485" y="3456736"/>
            <a:ext cx="19811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When communicating complex topics with multiple considerations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When raising important points for decision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3979" y="1052906"/>
            <a:ext cx="20854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Send out PowerPoint </a:t>
            </a: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24h before the meeting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Use PowerPoint as a tool to support the discussion, i.e. do not read from slides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3979" y="618544"/>
            <a:ext cx="1981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How to 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3979" y="2262664"/>
            <a:ext cx="208547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Send out PowerPoint </a:t>
            </a: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24h before the meeting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Call out the important points, i.e. no need to go through every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3979" y="3456736"/>
            <a:ext cx="20854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Memo should be sent out at least </a:t>
            </a: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24h before meeting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Meeting participants should have read the memo before the meeting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9453" y="1052906"/>
            <a:ext cx="19811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Better control of flow of presentation and discussion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More interactive and visual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9453" y="618544"/>
            <a:ext cx="1981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Why 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9453" y="2262664"/>
            <a:ext cx="19811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Easier to control flow of communication compared to projecting word doc or email on-screen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endParaRPr lang="en-U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49453" y="3456736"/>
            <a:ext cx="19811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Clearer thinking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Bring readers to the same level of knowledge before discussion</a:t>
            </a:r>
          </a:p>
        </p:txBody>
      </p:sp>
    </p:spTree>
    <p:extLst>
      <p:ext uri="{BB962C8B-B14F-4D97-AF65-F5344CB8AC3E}">
        <p14:creationId xmlns:p14="http://schemas.microsoft.com/office/powerpoint/2010/main" val="69578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Examples on usage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52184" y="1253362"/>
            <a:ext cx="8047500" cy="0"/>
          </a:xfrm>
          <a:prstGeom prst="line">
            <a:avLst/>
          </a:prstGeom>
          <a:ln w="381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0630" y="1341664"/>
            <a:ext cx="34774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Scenario 1: Proposal to introduce KPIs to local seller management teams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Local seller management KPI is a complex topic that has multiple considerations to discuss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630" y="907301"/>
            <a:ext cx="267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630" y="2574047"/>
            <a:ext cx="3477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Scenario 2: Proposal to revamp live streaming feature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Includes proposed changes to color scheme of certain icons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630" y="3643429"/>
            <a:ext cx="3477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Scenario 3: Bi-weekly product meeting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Selective highlights on the status of all feature requests across Shopee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Live meeting with many participants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9403" y="1341664"/>
            <a:ext cx="1971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9403" y="754745"/>
            <a:ext cx="1854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Recommended document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9403" y="2574047"/>
            <a:ext cx="197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PowerPoint </a:t>
            </a:r>
            <a:b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(following recommended structure)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9403" y="3643429"/>
            <a:ext cx="197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PowerPoint </a:t>
            </a:r>
            <a:b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(without following recommended structure)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8693" y="1341664"/>
            <a:ext cx="2143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>
              <a:buClr>
                <a:srgbClr val="F04E1C"/>
              </a:buClr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Complex topic and requires raising points for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8693" y="907301"/>
            <a:ext cx="2143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Rationale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8693" y="2574047"/>
            <a:ext cx="2143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Complex topic that requires two-way communication and visualization of different color scheme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8693" y="3643429"/>
            <a:ext cx="2143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Line by line callouts do not follow recommended structure</a:t>
            </a:r>
          </a:p>
        </p:txBody>
      </p:sp>
    </p:spTree>
    <p:extLst>
      <p:ext uri="{BB962C8B-B14F-4D97-AF65-F5344CB8AC3E}">
        <p14:creationId xmlns:p14="http://schemas.microsoft.com/office/powerpoint/2010/main" val="133074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Date format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718B066-1D51-4F9F-A094-EA81BFC6BC14}"/>
              </a:ext>
            </a:extLst>
          </p:cNvPr>
          <p:cNvSpPr txBox="1"/>
          <p:nvPr/>
        </p:nvSpPr>
        <p:spPr>
          <a:xfrm>
            <a:off x="571263" y="911922"/>
            <a:ext cx="322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Day</a:t>
            </a:r>
          </a:p>
          <a:p>
            <a:pPr marL="171450" indent="-17145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dd-mmm-yyyy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780E2A2-A3CB-4B3F-825C-DAC6B201E708}"/>
              </a:ext>
            </a:extLst>
          </p:cNvPr>
          <p:cNvSpPr txBox="1"/>
          <p:nvPr/>
        </p:nvSpPr>
        <p:spPr>
          <a:xfrm>
            <a:off x="571263" y="1599074"/>
            <a:ext cx="322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Week</a:t>
            </a:r>
          </a:p>
          <a:p>
            <a:pPr marL="171450" indent="-17145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W# mmm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78C037C-E99C-410A-906E-EBC72ED50A6C}"/>
              </a:ext>
            </a:extLst>
          </p:cNvPr>
          <p:cNvSpPr txBox="1"/>
          <p:nvPr/>
        </p:nvSpPr>
        <p:spPr>
          <a:xfrm>
            <a:off x="571262" y="2289981"/>
            <a:ext cx="322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Month</a:t>
            </a:r>
          </a:p>
          <a:p>
            <a:pPr marL="171450" indent="-17145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mmm yyyy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FA5EE17-F8F6-4C2E-8D3E-A99455F0DBDB}"/>
              </a:ext>
            </a:extLst>
          </p:cNvPr>
          <p:cNvSpPr txBox="1"/>
          <p:nvPr/>
        </p:nvSpPr>
        <p:spPr>
          <a:xfrm>
            <a:off x="550630" y="4294819"/>
            <a:ext cx="322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Year</a:t>
            </a:r>
          </a:p>
          <a:p>
            <a:pPr marL="171450" indent="-17145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yyyy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65256AF-94E8-41C9-A4F3-2368497652D9}"/>
              </a:ext>
            </a:extLst>
          </p:cNvPr>
          <p:cNvCxnSpPr/>
          <p:nvPr/>
        </p:nvCxnSpPr>
        <p:spPr>
          <a:xfrm>
            <a:off x="652184" y="829316"/>
            <a:ext cx="8172000" cy="0"/>
          </a:xfrm>
          <a:prstGeom prst="line">
            <a:avLst/>
          </a:prstGeom>
          <a:ln w="381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5673BF2-48A8-4A2D-9EFD-AD3B6E02985B}"/>
              </a:ext>
            </a:extLst>
          </p:cNvPr>
          <p:cNvSpPr txBox="1"/>
          <p:nvPr/>
        </p:nvSpPr>
        <p:spPr>
          <a:xfrm>
            <a:off x="550630" y="527499"/>
            <a:ext cx="267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Date types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AAC3502-D458-4E11-9D7D-4369016CE8C0}"/>
              </a:ext>
            </a:extLst>
          </p:cNvPr>
          <p:cNvSpPr txBox="1"/>
          <p:nvPr/>
        </p:nvSpPr>
        <p:spPr>
          <a:xfrm>
            <a:off x="3267036" y="526258"/>
            <a:ext cx="1854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Example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1D38797-8C1F-4953-B92B-DA05CA4F0A6F}"/>
              </a:ext>
            </a:extLst>
          </p:cNvPr>
          <p:cNvSpPr txBox="1"/>
          <p:nvPr/>
        </p:nvSpPr>
        <p:spPr>
          <a:xfrm>
            <a:off x="3291312" y="1113906"/>
            <a:ext cx="3228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01-Jul-2020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AC9E2FE-B022-4F0E-AB6A-8E47281C33F4}"/>
              </a:ext>
            </a:extLst>
          </p:cNvPr>
          <p:cNvSpPr txBox="1"/>
          <p:nvPr/>
        </p:nvSpPr>
        <p:spPr>
          <a:xfrm>
            <a:off x="3291312" y="1789038"/>
            <a:ext cx="3228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W1 Jul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8A05992-DB22-49C8-BA89-255DC3699E38}"/>
              </a:ext>
            </a:extLst>
          </p:cNvPr>
          <p:cNvSpPr txBox="1"/>
          <p:nvPr/>
        </p:nvSpPr>
        <p:spPr>
          <a:xfrm>
            <a:off x="3291312" y="2515516"/>
            <a:ext cx="3228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Jul 2020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3F303BC-5143-4926-9B49-61E6D41D6821}"/>
              </a:ext>
            </a:extLst>
          </p:cNvPr>
          <p:cNvSpPr txBox="1"/>
          <p:nvPr/>
        </p:nvSpPr>
        <p:spPr>
          <a:xfrm>
            <a:off x="3263340" y="4525651"/>
            <a:ext cx="3228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2020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F594D14-DA76-4A16-8091-0C00BD570FE6}"/>
              </a:ext>
            </a:extLst>
          </p:cNvPr>
          <p:cNvSpPr txBox="1"/>
          <p:nvPr/>
        </p:nvSpPr>
        <p:spPr>
          <a:xfrm>
            <a:off x="571262" y="2952788"/>
            <a:ext cx="322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Quarter</a:t>
            </a:r>
          </a:p>
          <a:p>
            <a:pPr marL="171450" indent="-17145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Q# yyyy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B941ABE-D0BF-4298-8940-4183674A5C4E}"/>
              </a:ext>
            </a:extLst>
          </p:cNvPr>
          <p:cNvSpPr txBox="1"/>
          <p:nvPr/>
        </p:nvSpPr>
        <p:spPr>
          <a:xfrm>
            <a:off x="3263341" y="3148151"/>
            <a:ext cx="3228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Q1 2020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170A191C-43B5-436A-A640-E91D987A832F}"/>
              </a:ext>
            </a:extLst>
          </p:cNvPr>
          <p:cNvSpPr txBox="1"/>
          <p:nvPr/>
        </p:nvSpPr>
        <p:spPr>
          <a:xfrm>
            <a:off x="565466" y="3605651"/>
            <a:ext cx="322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Biannual</a:t>
            </a:r>
          </a:p>
          <a:p>
            <a:pPr marL="171450" indent="-17145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H#</a:t>
            </a: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yyyy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A3111C8-136F-4036-B1D2-4E120C787993}"/>
              </a:ext>
            </a:extLst>
          </p:cNvPr>
          <p:cNvSpPr txBox="1"/>
          <p:nvPr/>
        </p:nvSpPr>
        <p:spPr>
          <a:xfrm>
            <a:off x="3278176" y="3860759"/>
            <a:ext cx="3228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H1 2020 </a:t>
            </a:r>
          </a:p>
        </p:txBody>
      </p:sp>
    </p:spTree>
    <p:extLst>
      <p:ext uri="{BB962C8B-B14F-4D97-AF65-F5344CB8AC3E}">
        <p14:creationId xmlns:p14="http://schemas.microsoft.com/office/powerpoint/2010/main" val="132332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Data arrangement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52184" y="829316"/>
            <a:ext cx="8172000" cy="0"/>
          </a:xfrm>
          <a:prstGeom prst="line">
            <a:avLst/>
          </a:prstGeom>
          <a:ln w="381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0630" y="527499"/>
            <a:ext cx="267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Data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723" y="885250"/>
            <a:ext cx="292927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05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Daily </a:t>
            </a:r>
          </a:p>
          <a:p>
            <a:pPr marL="228600" indent="-22860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Order by date from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latest to earliest</a:t>
            </a: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with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latest day on the left/top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2727" y="519547"/>
            <a:ext cx="1854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Example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3992" y="531100"/>
            <a:ext cx="2143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 defTabSz="914377">
              <a:buClr>
                <a:srgbClr val="F04E1C"/>
              </a:buClr>
              <a:defRPr/>
            </a:pPr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Example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A730A2F-6A5B-443A-BC2C-E7EF5D03C0BE}"/>
              </a:ext>
            </a:extLst>
          </p:cNvPr>
          <p:cNvSpPr txBox="1"/>
          <p:nvPr/>
        </p:nvSpPr>
        <p:spPr>
          <a:xfrm>
            <a:off x="544360" y="3762526"/>
            <a:ext cx="303212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05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Yearly</a:t>
            </a:r>
          </a:p>
          <a:p>
            <a:pPr marL="171450" indent="-17145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Order by year from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earliest to latest</a:t>
            </a: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with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latest year on the right/bottom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AAC6FA5-34D4-4474-8DB9-785D1BC581D9}"/>
              </a:ext>
            </a:extLst>
          </p:cNvPr>
          <p:cNvSpPr txBox="1"/>
          <p:nvPr/>
        </p:nvSpPr>
        <p:spPr>
          <a:xfrm>
            <a:off x="522825" y="2282062"/>
            <a:ext cx="30536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05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Monthly </a:t>
            </a:r>
          </a:p>
          <a:p>
            <a:pPr marL="228600" indent="-22860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Order by month from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earliest to latest</a:t>
            </a: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with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latest month on the right/bottom</a:t>
            </a:r>
          </a:p>
          <a:p>
            <a:pPr marL="228600" indent="-22860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endParaRPr lang="en-US" sz="105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7E4DFC62-9DEC-493A-8EB7-2FC64118814A}"/>
              </a:ext>
            </a:extLst>
          </p:cNvPr>
          <p:cNvSpPr txBox="1"/>
          <p:nvPr/>
        </p:nvSpPr>
        <p:spPr>
          <a:xfrm>
            <a:off x="550631" y="1567118"/>
            <a:ext cx="302585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buClr>
                <a:srgbClr val="F04E1C"/>
              </a:buClr>
              <a:defRPr/>
            </a:pPr>
            <a:r>
              <a:rPr lang="en-US" sz="105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Weekly</a:t>
            </a:r>
          </a:p>
          <a:p>
            <a:pPr marL="228600" indent="-22860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Order by date from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latest to earliest</a:t>
            </a: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with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latest week on the left/top 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xmlns="" id="{706F37DF-75F8-40FF-A082-78009520220A}"/>
              </a:ext>
            </a:extLst>
          </p:cNvPr>
          <p:cNvSpPr/>
          <p:nvPr/>
        </p:nvSpPr>
        <p:spPr>
          <a:xfrm>
            <a:off x="1357502" y="4495884"/>
            <a:ext cx="6428996" cy="335001"/>
          </a:xfrm>
          <a:prstGeom prst="roundRect">
            <a:avLst/>
          </a:prstGeom>
          <a:solidFill>
            <a:srgbClr val="F04E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Key Difference: </a:t>
            </a:r>
            <a:r>
              <a:rPr lang="en-US" sz="1000" dirty="0"/>
              <a:t>Daily/Weekly </a:t>
            </a:r>
            <a:r>
              <a:rPr lang="en-US" sz="1000" dirty="0" smtClean="0"/>
              <a:t>data is</a:t>
            </a:r>
            <a:r>
              <a:rPr lang="en-US" sz="1000" b="1" dirty="0" smtClean="0"/>
              <a:t> </a:t>
            </a:r>
            <a:r>
              <a:rPr lang="en-US" sz="1000" dirty="0" smtClean="0"/>
              <a:t>ordered </a:t>
            </a:r>
            <a:r>
              <a:rPr lang="en-US" sz="1000" dirty="0"/>
              <a:t>from </a:t>
            </a:r>
            <a:r>
              <a:rPr lang="en-US" sz="1000" u="sng" dirty="0"/>
              <a:t>latest to earliest</a:t>
            </a:r>
            <a:r>
              <a:rPr lang="en-US" sz="1000" dirty="0"/>
              <a:t>, whereas monthly/quarterly/biannually/yearly data </a:t>
            </a:r>
            <a:r>
              <a:rPr lang="en-US" sz="1000" dirty="0" smtClean="0"/>
              <a:t>is ordered </a:t>
            </a:r>
            <a:r>
              <a:rPr lang="en-US" sz="1000" dirty="0"/>
              <a:t>from </a:t>
            </a:r>
            <a:r>
              <a:rPr lang="en-US" sz="1000" u="sng" dirty="0"/>
              <a:t>earliest to </a:t>
            </a:r>
            <a:r>
              <a:rPr lang="en-US" sz="1000" u="sng" dirty="0" smtClean="0"/>
              <a:t>latest   </a:t>
            </a:r>
            <a:endParaRPr lang="en-US" sz="1000" u="sn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0F4D4E87-24B2-4FCE-8616-EB165B11690C}"/>
              </a:ext>
            </a:extLst>
          </p:cNvPr>
          <p:cNvSpPr txBox="1"/>
          <p:nvPr/>
        </p:nvSpPr>
        <p:spPr>
          <a:xfrm>
            <a:off x="544361" y="3044682"/>
            <a:ext cx="289201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05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Quarterly/Biannually </a:t>
            </a:r>
          </a:p>
          <a:p>
            <a:pPr marL="171450" indent="-171450" defTabSz="914377">
              <a:buClr>
                <a:srgbClr val="F04E1C"/>
              </a:buClr>
              <a:buFont typeface="Wingdings" panose="05000000000000000000" pitchFamily="2" charset="2"/>
              <a:buChar char="§"/>
              <a:defRPr/>
            </a:pP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Order by year from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earliest to latest</a:t>
            </a:r>
            <a:r>
              <a:rPr lang="en-US" sz="105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with </a:t>
            </a:r>
            <a:r>
              <a:rPr lang="en-US" sz="1050" u="sng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latest period on the right/bottom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C8671033-6F23-41DF-BCD7-B2D8D067B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389" y="2331039"/>
            <a:ext cx="3916575" cy="1441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3C791850-0C63-4548-B13A-04702AE9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55" y="2322315"/>
            <a:ext cx="1025494" cy="6747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910E6282-CC53-4B9D-ABED-2A8B96F97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55" y="3042292"/>
            <a:ext cx="1025494" cy="6747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xmlns="" id="{49804AB7-739B-43D8-9882-90715EBDE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389" y="3050917"/>
            <a:ext cx="3916575" cy="14416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xmlns="" id="{A2E4BFA1-876F-46D2-A44C-8A71AE9A5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389" y="3765736"/>
            <a:ext cx="3916575" cy="14416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xmlns="" id="{E3AFAE8F-03C2-4F55-9FEE-5C9D2A5135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055" y="3759912"/>
            <a:ext cx="1025494" cy="6747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AFBFA72B-C632-41AD-AE4F-A2FB7B614B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6388" y="3234752"/>
            <a:ext cx="2468138" cy="1441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F383EB6-91FF-4C17-AAE5-ED8A139F05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6387" y="916315"/>
            <a:ext cx="3916575" cy="144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F945D49-DCC1-451F-BB1A-AEF6E99DF0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4444" y="907316"/>
            <a:ext cx="1025494" cy="674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E3EF187-205B-453C-892F-9EDC7DEA56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6386" y="1620557"/>
            <a:ext cx="3916575" cy="1441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DE74120-DB86-4500-957D-A65D80E3C51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84444" y="1620557"/>
            <a:ext cx="1025494" cy="6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2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Document naming convention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29" y="1113703"/>
            <a:ext cx="8261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Shopee PowerPoint Communication Option 1 v4.6 - RC 20190712.pptx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48144" y="1507537"/>
            <a:ext cx="4521576" cy="0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491457" y="1507537"/>
            <a:ext cx="443127" cy="0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89943" y="1507537"/>
            <a:ext cx="338897" cy="0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516954" y="1507537"/>
            <a:ext cx="971005" cy="0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609695" y="1507537"/>
            <a:ext cx="412867" cy="0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3108932" y="1507537"/>
            <a:ext cx="3363" cy="1639496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5713020" y="1507537"/>
            <a:ext cx="3363" cy="1639496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6262754" y="1507537"/>
            <a:ext cx="0" cy="870878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7020774" y="1507537"/>
            <a:ext cx="3363" cy="1639496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7819491" y="1507537"/>
            <a:ext cx="0" cy="958345"/>
          </a:xfrm>
          <a:prstGeom prst="line">
            <a:avLst/>
          </a:prstGeom>
          <a:ln w="25400">
            <a:solidFill>
              <a:srgbClr val="F04E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16521" y="3249293"/>
            <a:ext cx="13848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Name of document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2923" y="3249293"/>
            <a:ext cx="13201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Version number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Format is </a:t>
            </a:r>
            <a:r>
              <a:rPr lang="en-US" sz="1100" dirty="0" err="1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vX.Y</a:t>
            </a:r>
            <a:endParaRPr lang="en-U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X is from 0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 is from 1 to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8743" y="2465882"/>
            <a:ext cx="13201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Last revision author initials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5934" y="3249293"/>
            <a:ext cx="132019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Date (optional)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Format is </a:t>
            </a: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YYYYMMDD</a:t>
            </a:r>
          </a:p>
          <a:p>
            <a:pPr marL="285744" indent="-285744">
              <a:buClr>
                <a:srgbClr val="F04E1C"/>
              </a:buClr>
              <a:buFont typeface="Wingdings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Update date for each version revision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4349" y="2465882"/>
            <a:ext cx="13201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Document format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96716" y="4034590"/>
            <a:ext cx="2860279" cy="385011"/>
          </a:xfrm>
          <a:prstGeom prst="roundRect">
            <a:avLst/>
          </a:prstGeom>
          <a:solidFill>
            <a:srgbClr val="F04E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Applies to both PowerPoint and Memo</a:t>
            </a:r>
          </a:p>
        </p:txBody>
      </p:sp>
    </p:spTree>
    <p:extLst>
      <p:ext uri="{BB962C8B-B14F-4D97-AF65-F5344CB8AC3E}">
        <p14:creationId xmlns:p14="http://schemas.microsoft.com/office/powerpoint/2010/main" val="158927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Checklist for PowerPoint 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057" y="497257"/>
            <a:ext cx="19718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63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Overall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322" y="682516"/>
            <a:ext cx="62298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Naming convention: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Document name follows document naming convention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5322" y="1532921"/>
            <a:ext cx="42014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Same font size: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Main text on slide has the same font size throughout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322" y="1315829"/>
            <a:ext cx="42014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Font: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Arial font type is 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781" y="1102485"/>
            <a:ext cx="1406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Text format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5322" y="876891"/>
            <a:ext cx="42014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Page number: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Each page has page 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5322" y="3248260"/>
            <a:ext cx="58180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Consistent color: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Color scheme (charts, shapes, lines, bullet points) follows the recommended template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5322" y="3504906"/>
            <a:ext cx="55424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Bullet points: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Bullet points follow bullet point hierarchy (dot, dash) with indentation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781" y="2588693"/>
            <a:ext cx="13742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Slide format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5322" y="2777034"/>
            <a:ext cx="41047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Alignment: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Proper alignment of text and shapes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5322" y="3016991"/>
            <a:ext cx="5979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Grid-like structure of slide: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All elements of slide (e.g. text, charts, shapes) should fall into a grid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5352" y="2825296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3" name="Rectangle 52"/>
          <p:cNvSpPr/>
          <p:nvPr/>
        </p:nvSpPr>
        <p:spPr>
          <a:xfrm>
            <a:off x="755352" y="3063676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4" name="Rectangle 53"/>
          <p:cNvSpPr/>
          <p:nvPr/>
        </p:nvSpPr>
        <p:spPr>
          <a:xfrm>
            <a:off x="755352" y="3296716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5" name="Rectangle 54"/>
          <p:cNvSpPr/>
          <p:nvPr/>
        </p:nvSpPr>
        <p:spPr>
          <a:xfrm>
            <a:off x="755352" y="3545439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6" name="Rectangle 55"/>
          <p:cNvSpPr/>
          <p:nvPr/>
        </p:nvSpPr>
        <p:spPr>
          <a:xfrm>
            <a:off x="755352" y="736419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7" name="Rectangle 56"/>
          <p:cNvSpPr/>
          <p:nvPr/>
        </p:nvSpPr>
        <p:spPr>
          <a:xfrm>
            <a:off x="755352" y="933501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1" name="Rectangle 60"/>
          <p:cNvSpPr/>
          <p:nvPr/>
        </p:nvSpPr>
        <p:spPr>
          <a:xfrm>
            <a:off x="755352" y="1356791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2" name="Rectangle 61"/>
          <p:cNvSpPr/>
          <p:nvPr/>
        </p:nvSpPr>
        <p:spPr>
          <a:xfrm>
            <a:off x="755352" y="1575896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1" name="TextBox 30"/>
          <p:cNvSpPr txBox="1"/>
          <p:nvPr/>
        </p:nvSpPr>
        <p:spPr>
          <a:xfrm>
            <a:off x="1155322" y="3908418"/>
            <a:ext cx="6932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Document structure: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Structure of document follows the recommended structure: </a:t>
            </a:r>
          </a:p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Executive summary, Context and objectives, Background facts and data, Findings and discussion points, Conclusion and 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5322" y="4240840"/>
            <a:ext cx="56004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Tracker pages: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Use of tracker pages to separate sections of the document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5322" y="4490066"/>
            <a:ext cx="7167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Key message: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Title contains key message of the slide, and the key message fits into the overall storyline in the executive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781" y="3710123"/>
            <a:ext cx="14066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Structure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5352" y="4015596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8" name="Rectangle 37"/>
          <p:cNvSpPr/>
          <p:nvPr/>
        </p:nvSpPr>
        <p:spPr>
          <a:xfrm>
            <a:off x="755352" y="4288749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9" name="Rectangle 38"/>
          <p:cNvSpPr/>
          <p:nvPr/>
        </p:nvSpPr>
        <p:spPr>
          <a:xfrm>
            <a:off x="755352" y="4540738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FD81A72E-C862-467E-956C-B2AF13951C74}"/>
              </a:ext>
            </a:extLst>
          </p:cNvPr>
          <p:cNvSpPr txBox="1"/>
          <p:nvPr/>
        </p:nvSpPr>
        <p:spPr>
          <a:xfrm>
            <a:off x="1155322" y="1916404"/>
            <a:ext cx="69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Date format: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Day date is in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dd-mmm-yyyy;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Week date is in W# mmm; Month date is in mmm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yyyy;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Quarter date is in Q# yyyy; Biannual date is in H# yyyy; Year date is in </a:t>
            </a:r>
            <a:r>
              <a:rPr lang="en-US" sz="9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yyyy</a:t>
            </a:r>
            <a:endParaRPr lang="en-US" sz="9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86CC1A3-B997-4382-A00E-EDC3091D95EE}"/>
              </a:ext>
            </a:extLst>
          </p:cNvPr>
          <p:cNvSpPr txBox="1"/>
          <p:nvPr/>
        </p:nvSpPr>
        <p:spPr>
          <a:xfrm>
            <a:off x="635780" y="1753104"/>
            <a:ext cx="23843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Date </a:t>
            </a:r>
            <a:r>
              <a:rPr lang="en-US" sz="900" b="1" dirty="0" smtClean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format / Data arrangement</a:t>
            </a:r>
            <a:endParaRPr lang="en-US" sz="900" b="1" dirty="0">
              <a:solidFill>
                <a:srgbClr val="F04E1C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E4E49BBB-A1C3-4664-937C-5FAE9A65A36E}"/>
              </a:ext>
            </a:extLst>
          </p:cNvPr>
          <p:cNvSpPr/>
          <p:nvPr/>
        </p:nvSpPr>
        <p:spPr>
          <a:xfrm>
            <a:off x="755352" y="2011621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775A7FBB-698A-4692-8E0D-145C895568E0}"/>
              </a:ext>
            </a:extLst>
          </p:cNvPr>
          <p:cNvSpPr txBox="1"/>
          <p:nvPr/>
        </p:nvSpPr>
        <p:spPr>
          <a:xfrm>
            <a:off x="1155322" y="2231457"/>
            <a:ext cx="694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900" b="1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Data </a:t>
            </a:r>
            <a:r>
              <a:rPr lang="en-US" sz="9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arrangement: </a:t>
            </a:r>
            <a:r>
              <a:rPr lang="en-US" sz="9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Daily/Weekly data is ordered with the latest on the left/top; Monthly/Quarterly/Biannually/Yearly data is ordered with the latest on the right/bottom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93D29DAC-E0AD-46BF-A113-F2D25F6D4717}"/>
              </a:ext>
            </a:extLst>
          </p:cNvPr>
          <p:cNvSpPr/>
          <p:nvPr/>
        </p:nvSpPr>
        <p:spPr>
          <a:xfrm>
            <a:off x="755352" y="2311983"/>
            <a:ext cx="129337" cy="129337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7806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Checklist for Memo document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4093" y="2476760"/>
            <a:ext cx="144000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TextBox 8"/>
          <p:cNvSpPr txBox="1"/>
          <p:nvPr/>
        </p:nvSpPr>
        <p:spPr>
          <a:xfrm>
            <a:off x="1339285" y="2427728"/>
            <a:ext cx="5889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Font: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Garamond font is used with font size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4093" y="1198274"/>
            <a:ext cx="144000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TextBox 11"/>
          <p:cNvSpPr txBox="1"/>
          <p:nvPr/>
        </p:nvSpPr>
        <p:spPr>
          <a:xfrm>
            <a:off x="1339285" y="1132364"/>
            <a:ext cx="5889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Page number: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Each page has page number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4093" y="2765573"/>
            <a:ext cx="144000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TextBox 17"/>
          <p:cNvSpPr txBox="1"/>
          <p:nvPr/>
        </p:nvSpPr>
        <p:spPr>
          <a:xfrm>
            <a:off x="1339285" y="2716541"/>
            <a:ext cx="5889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Spelling and grammar check: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No spelling or grammatical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4093" y="895550"/>
            <a:ext cx="144000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TextBox 20"/>
          <p:cNvSpPr txBox="1"/>
          <p:nvPr/>
        </p:nvSpPr>
        <p:spPr>
          <a:xfrm>
            <a:off x="1339285" y="829640"/>
            <a:ext cx="5889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Naming convention: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Document name follows document naming convention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4093" y="1500997"/>
            <a:ext cx="144000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TextBox 23"/>
          <p:cNvSpPr txBox="1"/>
          <p:nvPr/>
        </p:nvSpPr>
        <p:spPr>
          <a:xfrm>
            <a:off x="1339285" y="1435087"/>
            <a:ext cx="5889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Length: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Overall document is less than 6 pages in length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4093" y="3081020"/>
            <a:ext cx="144000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TextBox 26"/>
          <p:cNvSpPr txBox="1"/>
          <p:nvPr/>
        </p:nvSpPr>
        <p:spPr>
          <a:xfrm>
            <a:off x="1339285" y="3005354"/>
            <a:ext cx="6759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Limited bold use: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Bold font is applied only for section headers and to highlight beginning of subsections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4093" y="2196825"/>
            <a:ext cx="144000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TextBox 29"/>
          <p:cNvSpPr txBox="1"/>
          <p:nvPr/>
        </p:nvSpPr>
        <p:spPr>
          <a:xfrm>
            <a:off x="1339285" y="2138915"/>
            <a:ext cx="5889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Bullet points: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Bullet points follow bullet point hierarchy (dot, dash) with indentation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499" y="550716"/>
            <a:ext cx="1971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Overall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499" y="1859262"/>
            <a:ext cx="1971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Format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4093" y="4394732"/>
            <a:ext cx="154103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TextBox 35"/>
          <p:cNvSpPr txBox="1"/>
          <p:nvPr/>
        </p:nvSpPr>
        <p:spPr>
          <a:xfrm>
            <a:off x="1339285" y="4303066"/>
            <a:ext cx="71481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Document structure: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 Structure of document follows the recommended structure: </a:t>
            </a:r>
          </a:p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Context and objectives, Background facts and data, Findings and discussion points, Conclusion and 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499" y="4015157"/>
            <a:ext cx="1971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>
                <a:solidFill>
                  <a:srgbClr val="F04E1C"/>
                </a:solidFill>
                <a:latin typeface="Arial" charset="0"/>
                <a:ea typeface="Arial" charset="0"/>
                <a:cs typeface="Arial" charset="0"/>
              </a:rPr>
              <a:t>Structure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0DE59E49-A646-4A1F-A2D3-A0F9F67FEFAD}"/>
              </a:ext>
            </a:extLst>
          </p:cNvPr>
          <p:cNvSpPr/>
          <p:nvPr/>
        </p:nvSpPr>
        <p:spPr>
          <a:xfrm>
            <a:off x="764093" y="3765920"/>
            <a:ext cx="147063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F91AFFF2-5B1D-4505-A935-F2B2638D69B5}"/>
              </a:ext>
            </a:extLst>
          </p:cNvPr>
          <p:cNvSpPr txBox="1"/>
          <p:nvPr/>
        </p:nvSpPr>
        <p:spPr>
          <a:xfrm>
            <a:off x="1339285" y="3662872"/>
            <a:ext cx="71766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 defTabSz="914377">
              <a:buClr>
                <a:srgbClr val="F04E1C"/>
              </a:buClr>
              <a:defRPr/>
            </a:pPr>
            <a:r>
              <a:rPr lang="en-US" sz="1100" b="1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Data </a:t>
            </a:r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arrangement: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Daily/Weekly data is ordered with the latest on the left/top; Monthly/Quarterly/Biannually/Yearly data is ordered with the latest on the right/bottom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6D2CE327-4E81-4AB5-A69A-835B8AB6E510}"/>
              </a:ext>
            </a:extLst>
          </p:cNvPr>
          <p:cNvSpPr/>
          <p:nvPr/>
        </p:nvSpPr>
        <p:spPr>
          <a:xfrm>
            <a:off x="764093" y="3396479"/>
            <a:ext cx="141289" cy="144000"/>
          </a:xfrm>
          <a:prstGeom prst="rect">
            <a:avLst/>
          </a:prstGeom>
          <a:noFill/>
          <a:ln>
            <a:solidFill>
              <a:srgbClr val="F159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3EF46DF3-775E-4FDC-B257-4610B82180D6}"/>
              </a:ext>
            </a:extLst>
          </p:cNvPr>
          <p:cNvSpPr txBox="1"/>
          <p:nvPr/>
        </p:nvSpPr>
        <p:spPr>
          <a:xfrm>
            <a:off x="1339285" y="3275740"/>
            <a:ext cx="67650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Date format: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Day date is in 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dd-mmm-yyyy;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Week date is in W# mmm; Month date is in mmm 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yyyy;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Quarter date is in 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Q# yyyy; 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Biannual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date is in 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H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# </a:t>
            </a:r>
            <a:r>
              <a:rPr lang="en-US" sz="11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yyyy; Year date is in </a:t>
            </a:r>
            <a:r>
              <a:rPr lang="en-US" sz="1100" dirty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yyyy </a:t>
            </a:r>
            <a:endParaRPr lang="en-US" sz="11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2040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9514</TotalTime>
  <Words>1017</Words>
  <Application>Microsoft Office PowerPoint</Application>
  <PresentationFormat>On-screen Show (16:9)</PresentationFormat>
  <Paragraphs>143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Roboto</vt:lpstr>
      <vt:lpstr>Arial</vt:lpstr>
      <vt:lpstr>Calibri</vt:lpstr>
      <vt:lpstr>Garamond</vt:lpstr>
      <vt:lpstr>Times New Roman</vt:lpstr>
      <vt:lpstr>Wingdings</vt:lpstr>
      <vt:lpstr>Simple Light</vt:lpstr>
      <vt:lpstr>Shopee documents usage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 Djuarto</dc:creator>
  <cp:lastModifiedBy>Steven Liu</cp:lastModifiedBy>
  <cp:revision>734</cp:revision>
  <dcterms:modified xsi:type="dcterms:W3CDTF">2020-07-28T06:12:53Z</dcterms:modified>
</cp:coreProperties>
</file>